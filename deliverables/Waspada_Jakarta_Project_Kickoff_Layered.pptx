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ca37724e3846c1" /><Relationship Type="http://schemas.openxmlformats.org/officeDocument/2006/relationships/extended-properties" Target="/docProps/app.xml" Id="R1cc95e126ddc4aec" /><Relationship Type="http://schemas.openxmlformats.org/officeDocument/2006/relationships/officeDocument" Target="/ppt/presentation.xml" Id="Re8fdc43e4dd14ff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9a2c9fe18834eec"/>
  </p:sldMasterIdLst>
  <p:notesMasterIdLst>
    <p:notesMasterId xmlns:r="http://schemas.openxmlformats.org/officeDocument/2006/relationships" r:id="Reb3d5175d0284538"/>
  </p:notesMasterIdLst>
  <p:sldIdLst>
    <p:sldId xmlns:r="http://schemas.openxmlformats.org/officeDocument/2006/relationships" id="256" r:id="R8d3c8f74a97e47e3"/>
    <p:sldId xmlns:r="http://schemas.openxmlformats.org/officeDocument/2006/relationships" id="257" r:id="R085e347e2fe746df"/>
    <p:sldId xmlns:r="http://schemas.openxmlformats.org/officeDocument/2006/relationships" id="258" r:id="R3cad25c37d7242c0"/>
    <p:sldId xmlns:r="http://schemas.openxmlformats.org/officeDocument/2006/relationships" id="259" r:id="Rce4f71eb86514b5a"/>
    <p:sldId xmlns:r="http://schemas.openxmlformats.org/officeDocument/2006/relationships" id="260" r:id="Rf1760b3989a547b3"/>
    <p:sldId xmlns:r="http://schemas.openxmlformats.org/officeDocument/2006/relationships" id="261" r:id="R04261f3fc56f41b7"/>
    <p:sldId xmlns:r="http://schemas.openxmlformats.org/officeDocument/2006/relationships" id="262" r:id="Reb1f66bace114198"/>
    <p:sldId xmlns:r="http://schemas.openxmlformats.org/officeDocument/2006/relationships" id="263" r:id="R14389e481c6f4df5"/>
    <p:sldId xmlns:r="http://schemas.openxmlformats.org/officeDocument/2006/relationships" id="264" r:id="Rf29044fd4aeb4c1f"/>
    <p:sldId xmlns:r="http://schemas.openxmlformats.org/officeDocument/2006/relationships" id="265" r:id="R62a2713e9da047ee"/>
    <p:sldId xmlns:r="http://schemas.openxmlformats.org/officeDocument/2006/relationships" id="266" r:id="R96f2a39bb7414fb8"/>
    <p:sldId xmlns:r="http://schemas.openxmlformats.org/officeDocument/2006/relationships" id="267" r:id="Rc33bd8d3927142e4"/>
  </p:sldIdLst>
  <p:sldSz cx="12192000" cy="6858000"/>
  <p:notesSz cx="6858000" cy="9144000"/>
  <p:embeddedFontLst>
    <p:embeddedFont>
      <p:font typeface="Inter"/>
      <p:regular xmlns:r="http://schemas.openxmlformats.org/officeDocument/2006/relationships" r:id="R08cc91cdb9574a8c"/>
      <p:bold xmlns:r="http://schemas.openxmlformats.org/officeDocument/2006/relationships" r:id="R6ebd4a96954c4686"/>
    </p:embeddedFont>
    <p:embeddedFont>
      <p:font typeface="Inter Medium"/>
      <p:regular xmlns:r="http://schemas.openxmlformats.org/officeDocument/2006/relationships" r:id="R9beca37ea00f4a41"/>
    </p:embeddedFont>
    <p:embeddedFont>
      <p:font typeface="Inter SemiBold"/>
      <p:regular xmlns:r="http://schemas.openxmlformats.org/officeDocument/2006/relationships" r:id="Re434ae60507e4002"/>
      <p:bold xmlns:r="http://schemas.openxmlformats.org/officeDocument/2006/relationships" r:id="R7a9f33e7280d44af"/>
    </p:embeddedFont>
    <p:embeddedFont>
      <p:font typeface="OpenAI Sans"/>
      <p:regular xmlns:r="http://schemas.openxmlformats.org/officeDocument/2006/relationships" r:id="Ra7c9146812e94311"/>
      <p:bold xmlns:r="http://schemas.openxmlformats.org/officeDocument/2006/relationships" r:id="R40d01861069a4ac8"/>
      <p:italic xmlns:r="http://schemas.openxmlformats.org/officeDocument/2006/relationships" r:id="R8b990b4bd0624501"/>
      <p:boldItalic xmlns:r="http://schemas.openxmlformats.org/officeDocument/2006/relationships" r:id="Re5879f43c07d4bc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c02ce6c35f4c00" /><Relationship Type="http://schemas.openxmlformats.org/officeDocument/2006/relationships/slideMaster" Target="/ppt/slideMasters/slideMaster1.xml" Id="R39a2c9fe18834eec" /><Relationship Type="http://schemas.openxmlformats.org/officeDocument/2006/relationships/notesMaster" Target="/ppt/notesMasters/notesMaster1.xml" Id="Reb3d5175d0284538" /><Relationship Type="http://schemas.openxmlformats.org/officeDocument/2006/relationships/presProps" Target="/ppt/presProps.xml" Id="Rc9775c533223466e" /><Relationship Type="http://schemas.openxmlformats.org/officeDocument/2006/relationships/viewProps" Target="/ppt/viewProps.xml" Id="R9d31fb996a8b4947" /><Relationship Type="http://schemas.openxmlformats.org/officeDocument/2006/relationships/tableStyles" Target="/ppt/tableStyles.xml" Id="R5f562c6d9c664bfc" /><Relationship Type="http://schemas.openxmlformats.org/officeDocument/2006/relationships/font" Target="/ppt/fonts/font.dat" Id="R08cc91cdb9574a8c" /><Relationship Type="http://schemas.openxmlformats.org/officeDocument/2006/relationships/font" Target="/ppt/fonts/font2.dat" Id="R6ebd4a96954c4686" /><Relationship Type="http://schemas.openxmlformats.org/officeDocument/2006/relationships/font" Target="/ppt/fonts/font3.dat" Id="R9beca37ea00f4a41" /><Relationship Type="http://schemas.openxmlformats.org/officeDocument/2006/relationships/font" Target="/ppt/fonts/font4.dat" Id="Re434ae60507e4002" /><Relationship Type="http://schemas.openxmlformats.org/officeDocument/2006/relationships/font" Target="/ppt/fonts/font5.dat" Id="R7a9f33e7280d44af" /><Relationship Type="http://schemas.openxmlformats.org/officeDocument/2006/relationships/font" Target="/ppt/fonts/font6.dat" Id="Ra7c9146812e94311" /><Relationship Type="http://schemas.openxmlformats.org/officeDocument/2006/relationships/font" Target="/ppt/fonts/font7.dat" Id="R40d01861069a4ac8" /><Relationship Type="http://schemas.openxmlformats.org/officeDocument/2006/relationships/font" Target="/ppt/fonts/font8.dat" Id="R8b990b4bd0624501" /><Relationship Type="http://schemas.openxmlformats.org/officeDocument/2006/relationships/font" Target="/ppt/fonts/font9.dat" Id="Re5879f43c07d4bc6" /><Relationship Type="http://schemas.openxmlformats.org/officeDocument/2006/relationships/slide" Target="/ppt/slides/slide1.xml" Id="R8d3c8f74a97e47e3" /><Relationship Type="http://schemas.openxmlformats.org/officeDocument/2006/relationships/slide" Target="/ppt/slides/slide2.xml" Id="R085e347e2fe746df" /><Relationship Type="http://schemas.openxmlformats.org/officeDocument/2006/relationships/slide" Target="/ppt/slides/slide3.xml" Id="R3cad25c37d7242c0" /><Relationship Type="http://schemas.openxmlformats.org/officeDocument/2006/relationships/slide" Target="/ppt/slides/slide4.xml" Id="Rce4f71eb86514b5a" /><Relationship Type="http://schemas.openxmlformats.org/officeDocument/2006/relationships/slide" Target="/ppt/slides/slide5.xml" Id="Rf1760b3989a547b3" /><Relationship Type="http://schemas.openxmlformats.org/officeDocument/2006/relationships/slide" Target="/ppt/slides/slide6.xml" Id="R04261f3fc56f41b7" /><Relationship Type="http://schemas.openxmlformats.org/officeDocument/2006/relationships/slide" Target="/ppt/slides/slide7.xml" Id="Reb1f66bace114198" /><Relationship Type="http://schemas.openxmlformats.org/officeDocument/2006/relationships/slide" Target="/ppt/slides/slide8.xml" Id="R14389e481c6f4df5" /><Relationship Type="http://schemas.openxmlformats.org/officeDocument/2006/relationships/slide" Target="/ppt/slides/slide9.xml" Id="Rf29044fd4aeb4c1f" /><Relationship Type="http://schemas.openxmlformats.org/officeDocument/2006/relationships/slide" Target="/ppt/slides/slide10.xml" Id="R62a2713e9da047ee" /><Relationship Type="http://schemas.openxmlformats.org/officeDocument/2006/relationships/slide" Target="/ppt/slides/slide11.xml" Id="R96f2a39bb7414fb8" /><Relationship Type="http://schemas.openxmlformats.org/officeDocument/2006/relationships/slide" Target="/ppt/slides/slide12.xml" Id="Rc33bd8d3927142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102c8311b748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f70f9b9c6044f4" /><Relationship Type="http://schemas.openxmlformats.org/officeDocument/2006/relationships/notesMaster" Target="/ppt/notesMasters/notesMaster1.xml" Id="Rabf38624481a4e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48305588734ccc" /><Relationship Type="http://schemas.openxmlformats.org/officeDocument/2006/relationships/notesMaster" Target="/ppt/notesMasters/notesMaster1.xml" Id="R9776d2f10b034f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07cbccb4b44441" /><Relationship Type="http://schemas.openxmlformats.org/officeDocument/2006/relationships/notesMaster" Target="/ppt/notesMasters/notesMaster1.xml" Id="Ra9ee1113e2054e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b166f86e624ec9" /><Relationship Type="http://schemas.openxmlformats.org/officeDocument/2006/relationships/notesMaster" Target="/ppt/notesMasters/notesMaster1.xml" Id="R8eb6116ac605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fe92ea29a43c2" /><Relationship Type="http://schemas.openxmlformats.org/officeDocument/2006/relationships/notesMaster" Target="/ppt/notesMasters/notesMaster1.xml" Id="R5d71bb00822142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866f7d6149431c" /><Relationship Type="http://schemas.openxmlformats.org/officeDocument/2006/relationships/notesMaster" Target="/ppt/notesMasters/notesMaster1.xml" Id="R166bac7bbd7f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9d74503481435b" /><Relationship Type="http://schemas.openxmlformats.org/officeDocument/2006/relationships/notesMaster" Target="/ppt/notesMasters/notesMaster1.xml" Id="R4827f504344f47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7ae6280039427c" /><Relationship Type="http://schemas.openxmlformats.org/officeDocument/2006/relationships/notesMaster" Target="/ppt/notesMasters/notesMaster1.xml" Id="Rd0261257422344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2b5f0bb92942c7" /><Relationship Type="http://schemas.openxmlformats.org/officeDocument/2006/relationships/notesMaster" Target="/ppt/notesMasters/notesMaster1.xml" Id="R19f2baeae9224f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2d0e3ce29647de" /><Relationship Type="http://schemas.openxmlformats.org/officeDocument/2006/relationships/notesMaster" Target="/ppt/notesMasters/notesMaster1.xml" Id="R46984aadc2664b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eec58280604d56" /><Relationship Type="http://schemas.openxmlformats.org/officeDocument/2006/relationships/notesMaster" Target="/ppt/notesMasters/notesMaster1.xml" Id="R831799d215a948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8f05e41eca46de" /><Relationship Type="http://schemas.openxmlformats.org/officeDocument/2006/relationships/notesMaster" Target="/ppt/notesMasters/notesMaster1.xml" Id="Rfe67176b5d1643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12 proposal. This deck describes the planned prototype, not a deployed safety service.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the user problem, event coverage, source roles, the five-layer architecture, publication policy, delivery and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Jakarta residents face fragmented safety and disruption information. The product hypothesis still requires interviews and usability validation.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Success means relevance, freshness and traceability. Keep event time, publication time and validity distinct.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Crime, gatherings, weather and group-specific notices provide the initial demonstration cases. A gathering is not evidence of violence.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Map, linked feed, event pages, interests, briefings and moderation support discovery and maintenance. Notices without geography remain in the feed.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Official sources, operators, independent reporting and community observations serve different roles. Copied coverage counts as one evidence origin.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logical layers can share a modular backend. L1 owns preprocessing/storage; L2 owns model adapters and initial grounding; L3 investigates only missing evidence. All newly acquired material returns through L1 and L2. Counters survive resume; failures count. L4 owns publication and moderation. L5 observes all layers and supplies reviewed improvement candidates. Models cannot grant tools or publish.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validity does not prove semantic support. L4 checks source provenance and claim-level assessments; uncertain independence or disputed support requires human review. Moderator corrections use the same gate. Public views read eligible event versions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relative semester plan. Weeks 1–2: needs, sources, contracts. 3–4: L1/basic API. 5–6: L2/direct path. 7–8: L3. 9–10: L4/L5 integration. 11–12: held-out evaluation and reporting. Jesaya owns storage/spatial plus backend policy/API; Perry owns connectors/models/investigation; Rasya owns frontend and evaluation integration. Instrumentation begins in week 1.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at least 40 reports across 12 cases, keep copies and revisions of each incident together, and reserve held-out cases before tuning. Two reviewers reconcile labels. The usability target is 80% identifying a relevant event, its freshness and evidence within one minute. These are prototype checks, not production safety guarantees.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decisions: confirm user needs, source feasibility, contracts and benchmark candidates before implementation.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18166896641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0620c78ea4d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813f3058544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4b83140db4f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7eaff525c47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a9e7f9ad44da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c9cb0e115459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66821e1134dd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f92979314747cc" /><Relationship Type="http://schemas.openxmlformats.org/officeDocument/2006/relationships/slideLayout" Target="/ppt/slideLayouts/slideLayout1.xml" Id="R037c4262e6dc4af1" /><Relationship Type="http://schemas.openxmlformats.org/officeDocument/2006/relationships/slideLayout" Target="/ppt/slideLayouts/slideLayout2.xml" Id="R1a6a0336915942ed" /><Relationship Type="http://schemas.openxmlformats.org/officeDocument/2006/relationships/slideLayout" Target="/ppt/slideLayouts/slideLayout3.xml" Id="R4cfb7e16e82c48a9" /><Relationship Type="http://schemas.openxmlformats.org/officeDocument/2006/relationships/slideLayout" Target="/ppt/slideLayouts/slideLayout4.xml" Id="R61b8e7cd65f647c3" /><Relationship Type="http://schemas.openxmlformats.org/officeDocument/2006/relationships/slideLayout" Target="/ppt/slideLayouts/slideLayout5.xml" Id="R76810da3eb684b7c" /><Relationship Type="http://schemas.openxmlformats.org/officeDocument/2006/relationships/slideLayout" Target="/ppt/slideLayouts/slideLayout6.xml" Id="R9755668620e546da" /><Relationship Type="http://schemas.openxmlformats.org/officeDocument/2006/relationships/slideLayout" Target="/ppt/slideLayouts/slideLayout7.xml" Id="Radea1c552cc04063" /><Relationship Type="http://schemas.openxmlformats.org/officeDocument/2006/relationships/slideLayout" Target="/ppt/slideLayouts/slideLayout8.xml" Id="R620071fbac41470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7c4262e6dc4af1"/>
    <p:sldLayoutId xmlns:r="http://schemas.openxmlformats.org/officeDocument/2006/relationships" id="2147483650" r:id="R1a6a0336915942ed"/>
    <p:sldLayoutId xmlns:r="http://schemas.openxmlformats.org/officeDocument/2006/relationships" id="2147483651" r:id="R4cfb7e16e82c48a9"/>
    <p:sldLayoutId xmlns:r="http://schemas.openxmlformats.org/officeDocument/2006/relationships" id="2147483652" r:id="R61b8e7cd65f647c3"/>
    <p:sldLayoutId xmlns:r="http://schemas.openxmlformats.org/officeDocument/2006/relationships" id="2147483653" r:id="R76810da3eb684b7c"/>
    <p:sldLayoutId xmlns:r="http://schemas.openxmlformats.org/officeDocument/2006/relationships" id="2147483654" r:id="R9755668620e546da"/>
    <p:sldLayoutId xmlns:r="http://schemas.openxmlformats.org/officeDocument/2006/relationships" id="2147483655" r:id="Radea1c552cc04063"/>
    <p:sldLayoutId xmlns:r="http://schemas.openxmlformats.org/officeDocument/2006/relationships" id="2147483656" r:id="R620071fbac41470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2c11152564485" /><Relationship Type="http://schemas.openxmlformats.org/officeDocument/2006/relationships/notesSlide" Target="/ppt/notesSlides/notesSlide1.xml" Id="R35a00b69705c4a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eb7198a0846ed" /><Relationship Type="http://schemas.openxmlformats.org/officeDocument/2006/relationships/notesSlide" Target="/ppt/notesSlides/notesSlide2.xml" Id="R0ee209b83ec74d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ce1c4b3bc4b2c" /><Relationship Type="http://schemas.openxmlformats.org/officeDocument/2006/relationships/image" Target="/ppt/media/image.jpeg" Id="Rb45d0336d5204d9c" /><Relationship Type="http://schemas.openxmlformats.org/officeDocument/2006/relationships/notesSlide" Target="/ppt/notesSlides/notesSlide3.xml" Id="R0fcaca8552f74d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096074350e4ff0" /><Relationship Type="http://schemas.openxmlformats.org/officeDocument/2006/relationships/notesSlide" Target="/ppt/notesSlides/notesSlide4.xml" Id="Rba74c1a3551a49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0cad7b5e647ad" /><Relationship Type="http://schemas.openxmlformats.org/officeDocument/2006/relationships/notesSlide" Target="/ppt/notesSlides/notesSlide5.xml" Id="R6970c1f32a0b48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44ca2bcb4488d" /><Relationship Type="http://schemas.openxmlformats.org/officeDocument/2006/relationships/notesSlide" Target="/ppt/notesSlides/notesSlide6.xml" Id="Rf0e9beb8cc434e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a189b120c5418a" /><Relationship Type="http://schemas.openxmlformats.org/officeDocument/2006/relationships/notesSlide" Target="/ppt/notesSlides/notesSlide7.xml" Id="R6cbbe639946441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c4821023b4e0c" /><Relationship Type="http://schemas.openxmlformats.org/officeDocument/2006/relationships/notesSlide" Target="/ppt/notesSlides/notesSlide8.xml" Id="R406ffaebc2ff4c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5acb595c3406c" /><Relationship Type="http://schemas.openxmlformats.org/officeDocument/2006/relationships/notesSlide" Target="/ppt/notesSlides/notesSlide9.xml" Id="R386b3f1d832347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18b788d884a94" /><Relationship Type="http://schemas.openxmlformats.org/officeDocument/2006/relationships/notesSlide" Target="/ppt/notesSlides/notesSlide10.xml" Id="R7e1d38699d164b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ebd36da6e4c10" /><Relationship Type="http://schemas.openxmlformats.org/officeDocument/2006/relationships/notesSlide" Target="/ppt/notesSlides/notesSlide11.xml" Id="Rb61ed51e9f2b4c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be49631ca463f" /><Relationship Type="http://schemas.openxmlformats.org/officeDocument/2006/relationships/notesSlide" Target="/ppt/notesSlides/notesSlide12.xml" Id="Re71e7e9a19744b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Waspada Jakarta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An interactive map and briefing for recent safety events and disruptions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PROJECT KICKOFF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4229100" cy="5195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BCEF59"/>
                </a:solidFill>
              </a:rPr>
              <a:t>Today’s agenda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1881809"/>
          <a:ext xmlns:a="http://schemas.openxmlformats.org/drawingml/2006/main" cx="11404600" cy="41125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/>
                <a:gridCol w="7222435"/>
                <a:gridCol w="3422926"/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Problem and users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Product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Event coverage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Product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Experience and data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Design + Engineering</a:t>
                      </a:r>
                      <a:endParaRPr sz="2500" b="0" i="0" u="none" kern="1200" cap="none" spc="0" baseline="0">
                        <a:ln>
                          <a:noFill/>
                        </a:ln>
                        <a:solidFill>
                          <a:srgbClr val="BCEF59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Source verification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Data + AI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Delivery plan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Project team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Risks and success measures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Project team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problem and our response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d0336d5204d9c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Problem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Safety information sits across alerts, news, operator updates, and community reports. People must decide what applies to their location or situation.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Proposed product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A linked map and feed shows what happened, who may be affected, when the evidence changed, and where each claim came from.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success looks like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People see what affects them</a:t>
            </a:r>
            <a:endParaRPr sz="1800" b="1">
              <a:latin typeface="Inter SemiBold"/>
              <a:ea typeface="Inter SemiBold"/>
              <a:cs typeface="Inter SemiBold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Updates match places, services, institutions, and roles that people follow. Each item explains why it appears.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Every claim points to evidence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latin typeface="Inter"/>
                <a:ea typeface="Inter"/>
                <a:cs typeface="Inter"/>
              </a:rPr>
              <a:t>Sources appear beside the facts they support. Copied coverage does not inflate corroboration.</a:t>
            </a:r>
            <a:r>
              <a:rPr sz="1800" b="0" i="0" u="none" cap="none" spc="0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Every item carries time context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latin typeface="Inter"/>
                <a:ea typeface="Inter"/>
                <a:cs typeface="Inter"/>
              </a:rPr>
              <a:t>Event time, publication time, and alert validity remain separate. Stale information leaves current layers.</a:t>
            </a:r>
            <a:r>
              <a:rPr sz="1800" b="0" i="0" u="none" cap="none" spc="0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</a:p>
          <a:p xmlns:a="http://schemas.openxmlformats.org/drawingml/2006/main">
            <a:pPr marL="0" indent="0">
              <a:buNone/>
            </a:pP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RELEVANCE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FRESHNESS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TRACEABILITY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 coverage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Personal safety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Crime, harassment, scams, violence, and immediate threats.</a:t>
            </a:r>
            <a:r>
              <a:rPr sz="1800" b="0" i="0" u="none" cap="none" spc="0">
                <a:ln>
                  <a:noFill/>
                </a:ln>
              </a:rPr>
              <a:t> 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Public disruption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Demonstrations, marches, strikes, crowds, and major events.</a:t>
            </a:r>
            <a:r>
              <a:rPr sz="1800" b="0" i="0" u="none" cap="none" spc="0">
                <a:ln>
                  <a:noFill/>
                </a:ln>
              </a:rPr>
              <a:t> 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Physical hazards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Floods, severe weather, earthquakes, fires, and infrastructure hazards.</a:t>
            </a:r>
            <a:r>
              <a:rPr sz="1800"/>
              <a:t> 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Essential services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Transport incidents, road restrictions, utility outages, health advisories, and school notices.</a:t>
            </a:r>
            <a:r>
              <a:rPr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website answers one practical question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What affects me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here, now?</a:t>
            </a: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cap="none" spc="0">
                <a:ln>
                  <a:noFill/>
                </a:ln>
              </a:rPr>
              <a:t>A resident, commuter, student, parent, worker, or visitor can search a place and understand relevant events within a minute.</a:t>
            </a:r>
            <a:endParaRPr sz="1700" b="0" i="0" u="none" kern="1200" cap="none" spc="0" baseline="0">
              <a:ln>
                <a:noFill/>
              </a:ln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Map and linked feed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Filter by category, event time, status, and source. Select a story to see its supported location.</a:t>
            </a:r>
            <a:r>
              <a:rPr sz="1800"/>
              <a:t> 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Event detail and briefing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See affected people, documented effects, source links, and why the item is relevant.</a:t>
            </a:r>
            <a:r>
              <a:rPr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Four source roles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Warnings, public-safety statements, restrictions, and response updates within their remit.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Authorities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Their own service status, closures, diversions, and restoration notices.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Operators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Original observations, interviews, and cross-source reporting with visible attribution.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Journalism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Fast local observations that remain labelled and separate from official confirmation.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Community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Different sources answer different questions. The system records who issued or observed each fact and whether another article relies on the same origin.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layers, with investigation only when needed</a:t>
            </a:r>
          </a:p>
        </p:txBody>
      </p:sp>
      <p:sp>
        <p:nvSpPr>
          <p:cNvPr id="12" name="Cross-layer safeguards">
            <a:extLst xmlns:a="http://schemas.openxmlformats.org/drawingml/2006/main">
              <a:ext uri="{FF2B5EF4-FFF2-40B4-BE49-F238E27FC236}">
                <a16:creationId xmlns:a16="http://schemas.microsoft.com/office/drawing/2014/main" id="{106F001D-CD88-4C80-A00D-38E49DF1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DF15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BDF154"/>
                </a:solidFill>
                <a:latin typeface="Inter"/>
                <a:ea typeface="Inter"/>
                <a:cs typeface="Inter"/>
              </a:rPr>
              <a:t>RESPONSIBLE AI   Provenance · privacy · isolated inputs · access control · human review</a:t>
            </a:r>
          </a:p>
        </p:txBody>
      </p:sp>
      <p:sp>
        <p:nvSpPr>
          <p:cNvPr id="13" name="1  Data &amp; Knowledge">
            <a:extLst xmlns:a="http://schemas.openxmlformats.org/drawingml/2006/main">
              <a:ext uri="{FF2B5EF4-FFF2-40B4-BE49-F238E27FC236}">
                <a16:creationId xmlns:a16="http://schemas.microsoft.com/office/drawing/2014/main" id="{D380E45B-C5EA-44AB-8436-FBDF5D42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939"/>
          </a:solidFill>
          <a:ln xmlns:a="http://schemas.openxmlformats.org/drawingml/2006/main" w="0">
            <a:noFill/>
          </a:ln>
        </p:spPr>
      </p:sp>
      <p:sp>
        <p:nvSpPr>
          <p:cNvPr id="14" name="1  Data &amp; Knowledge heading">
            <a:extLst xmlns:a="http://schemas.openxmlformats.org/drawingml/2006/main">
              <a:ext uri="{FF2B5EF4-FFF2-40B4-BE49-F238E27FC236}">
                <a16:creationId xmlns:a16="http://schemas.microsoft.com/office/drawing/2014/main" id="{4A6AC9B4-9DE9-486A-94F6-974492D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28775"/>
            <a:ext cx="6429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F15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BDF154"/>
                </a:solidFill>
                <a:latin typeface="Inter"/>
                <a:ea typeface="Inter"/>
                <a:cs typeface="Inter"/>
              </a:rPr>
              <a:t>1  Data &amp; Knowledge</a:t>
            </a:r>
          </a:p>
        </p:txBody>
      </p:sp>
      <p:sp>
        <p:nvSpPr>
          <p:cNvPr id="15" name="1  Data &amp; Knowledge detail">
            <a:extLst xmlns:a="http://schemas.openxmlformats.org/drawingml/2006/main">
              <a:ext uri="{FF2B5EF4-FFF2-40B4-BE49-F238E27FC236}">
                <a16:creationId xmlns:a16="http://schemas.microsoft.com/office/drawing/2014/main" id="{6F63FF50-B38F-425A-AA04-AF9461B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Ingest, clean, extract and store relational / spatial / vector evidence</a:t>
            </a:r>
          </a:p>
        </p:txBody>
      </p:sp>
      <p:sp>
        <p:nvSpPr>
          <p:cNvPr id="16" name="2  Model &amp; Grounding">
            <a:extLst xmlns:a="http://schemas.openxmlformats.org/drawingml/2006/main">
              <a:ext uri="{FF2B5EF4-FFF2-40B4-BE49-F238E27FC236}">
                <a16:creationId xmlns:a16="http://schemas.microsoft.com/office/drawing/2014/main" id="{84412EE2-8F6E-47F4-84A5-3E55F449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939"/>
          </a:solidFill>
          <a:ln xmlns:a="http://schemas.openxmlformats.org/drawingml/2006/main" w="0">
            <a:noFill/>
          </a:ln>
        </p:spPr>
      </p:sp>
      <p:sp>
        <p:nvSpPr>
          <p:cNvPr id="17" name="2  Model &amp; Grounding heading">
            <a:extLst xmlns:a="http://schemas.openxmlformats.org/drawingml/2006/main">
              <a:ext uri="{FF2B5EF4-FFF2-40B4-BE49-F238E27FC236}">
                <a16:creationId xmlns:a16="http://schemas.microsoft.com/office/drawing/2014/main" id="{91E1DBF3-9AFA-4A14-A072-5C8772F3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6429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F15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BDF154"/>
                </a:solidFill>
                <a:latin typeface="Inter"/>
                <a:ea typeface="Inter"/>
                <a:cs typeface="Inter"/>
              </a:rPr>
              <a:t>2  Model &amp; Grounding</a:t>
            </a:r>
          </a:p>
        </p:txBody>
      </p:sp>
      <p:sp>
        <p:nvSpPr>
          <p:cNvPr id="18" name="2  Model &amp; Grounding detail">
            <a:extLst xmlns:a="http://schemas.openxmlformats.org/drawingml/2006/main">
              <a:ext uri="{FF2B5EF4-FFF2-40B4-BE49-F238E27FC236}">
                <a16:creationId xmlns:a16="http://schemas.microsoft.com/office/drawing/2014/main" id="{E2EAE332-D356-4A7A-8D6A-9DA583C0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52725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Separate extraction and reasoning; retrieve context before acting</a:t>
            </a:r>
          </a:p>
        </p:txBody>
      </p:sp>
      <p:sp>
        <p:nvSpPr>
          <p:cNvPr id="19" name="3  Inference &amp; Orchestration">
            <a:extLst xmlns:a="http://schemas.openxmlformats.org/drawingml/2006/main">
              <a:ext uri="{FF2B5EF4-FFF2-40B4-BE49-F238E27FC236}">
                <a16:creationId xmlns:a16="http://schemas.microsoft.com/office/drawing/2014/main" id="{3A24FA0C-6FBA-41D8-9C78-E2D595B2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939"/>
          </a:solidFill>
          <a:ln xmlns:a="http://schemas.openxmlformats.org/drawingml/2006/main" w="0">
            <a:noFill/>
          </a:ln>
        </p:spPr>
      </p:sp>
      <p:sp>
        <p:nvSpPr>
          <p:cNvPr id="20" name="3  Inference &amp; Orchestration heading">
            <a:extLst xmlns:a="http://schemas.openxmlformats.org/drawingml/2006/main">
              <a:ext uri="{FF2B5EF4-FFF2-40B4-BE49-F238E27FC236}">
                <a16:creationId xmlns:a16="http://schemas.microsoft.com/office/drawing/2014/main" id="{4B558EFF-7715-4977-8F8D-65FFE98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67100"/>
            <a:ext cx="6429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F15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BDF154"/>
                </a:solidFill>
                <a:latin typeface="Inter"/>
                <a:ea typeface="Inter"/>
                <a:cs typeface="Inter"/>
              </a:rPr>
              <a:t>3  Inference &amp; Orchestration</a:t>
            </a:r>
          </a:p>
        </p:txBody>
      </p:sp>
      <p:sp>
        <p:nvSpPr>
          <p:cNvPr id="21" name="3  Inference &amp; Orchestration detail">
            <a:extLst xmlns:a="http://schemas.openxmlformats.org/drawingml/2006/main">
              <a:ext uri="{FF2B5EF4-FFF2-40B4-BE49-F238E27FC236}">
                <a16:creationId xmlns:a16="http://schemas.microsoft.com/office/drawing/2014/main" id="{E9F4619B-59D1-4417-8CC6-F4A2D1F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642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5 tool attempts · 4 turns · 60 active seconds · 12,000 tokens</a:t>
            </a:r>
          </a:p>
        </p:txBody>
      </p:sp>
      <p:sp>
        <p:nvSpPr>
          <p:cNvPr id="22" name="4  Application Integration">
            <a:extLst xmlns:a="http://schemas.openxmlformats.org/drawingml/2006/main">
              <a:ext uri="{FF2B5EF4-FFF2-40B4-BE49-F238E27FC236}">
                <a16:creationId xmlns:a16="http://schemas.microsoft.com/office/drawing/2014/main" id="{D89363BB-3E5C-440F-B2E1-51AFC65E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939"/>
          </a:solidFill>
          <a:ln xmlns:a="http://schemas.openxmlformats.org/drawingml/2006/main" w="0">
            <a:noFill/>
          </a:ln>
        </p:spPr>
      </p:sp>
      <p:sp>
        <p:nvSpPr>
          <p:cNvPr id="23" name="4  Application Integration heading">
            <a:extLst xmlns:a="http://schemas.openxmlformats.org/drawingml/2006/main">
              <a:ext uri="{FF2B5EF4-FFF2-40B4-BE49-F238E27FC236}">
                <a16:creationId xmlns:a16="http://schemas.microsoft.com/office/drawing/2014/main" id="{84CA539F-6158-4C74-B3B8-A94155E7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6429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F15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BDF154"/>
                </a:solidFill>
                <a:latin typeface="Inter"/>
                <a:ea typeface="Inter"/>
                <a:cs typeface="Inter"/>
              </a:rPr>
              <a:t>4  Application Integration</a:t>
            </a:r>
          </a:p>
        </p:txBody>
      </p:sp>
      <p:sp>
        <p:nvSpPr>
          <p:cNvPr id="24" name="4  Application Integration detail">
            <a:extLst xmlns:a="http://schemas.openxmlformats.org/drawingml/2006/main">
              <a:ext uri="{FF2B5EF4-FFF2-40B4-BE49-F238E27FC236}">
                <a16:creationId xmlns:a16="http://schemas.microsoft.com/office/drawing/2014/main" id="{13C8AB6C-6581-4F3E-B434-0B032D8C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Backend policy + moderation → published map, feed and briefing</a:t>
            </a:r>
          </a:p>
        </p:txBody>
      </p:sp>
      <p:sp>
        <p:nvSpPr>
          <p:cNvPr id="25" name="5  Evaluation &amp; Monitoring">
            <a:extLst xmlns:a="http://schemas.openxmlformats.org/drawingml/2006/main">
              <a:ext uri="{FF2B5EF4-FFF2-40B4-BE49-F238E27FC236}">
                <a16:creationId xmlns:a16="http://schemas.microsoft.com/office/drawing/2014/main" id="{A34E0ECC-7E44-4BC8-A51B-16337A78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939"/>
          </a:solidFill>
          <a:ln xmlns:a="http://schemas.openxmlformats.org/drawingml/2006/main" w="0">
            <a:noFill/>
          </a:ln>
        </p:spPr>
      </p:sp>
      <p:sp>
        <p:nvSpPr>
          <p:cNvPr id="26" name="5  Evaluation &amp; Monitoring heading">
            <a:extLst xmlns:a="http://schemas.openxmlformats.org/drawingml/2006/main">
              <a:ext uri="{FF2B5EF4-FFF2-40B4-BE49-F238E27FC236}">
                <a16:creationId xmlns:a16="http://schemas.microsoft.com/office/drawing/2014/main" id="{5C7B5BFC-47F5-4AC4-83B7-E4933A8A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91175"/>
            <a:ext cx="6429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F15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BDF154"/>
                </a:solidFill>
                <a:latin typeface="Inter"/>
                <a:ea typeface="Inter"/>
                <a:cs typeface="Inter"/>
              </a:rPr>
              <a:t>5  Evaluation &amp; Monitoring</a:t>
            </a:r>
          </a:p>
        </p:txBody>
      </p:sp>
      <p:sp>
        <p:nvSpPr>
          <p:cNvPr id="27" name="5  Evaluation &amp; Monitoring detail">
            <a:extLst xmlns:a="http://schemas.openxmlformats.org/drawingml/2006/main">
              <a:ext uri="{FF2B5EF4-FFF2-40B4-BE49-F238E27FC236}">
                <a16:creationId xmlns:a16="http://schemas.microsoft.com/office/drawing/2014/main" id="{21A62246-9E8C-46C8-98FB-846982CC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67400"/>
            <a:ext cx="642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Observe every layer; quality, cost, latency and reviewed feedback</a:t>
            </a:r>
          </a:p>
        </p:txBody>
      </p:sp>
      <p:sp>
        <p:nvSpPr>
          <p:cNvPr id="28" name="Dependency arrow">
            <a:extLst xmlns:a="http://schemas.openxmlformats.org/drawingml/2006/main">
              <a:ext uri="{FF2B5EF4-FFF2-40B4-BE49-F238E27FC236}">
                <a16:creationId xmlns:a16="http://schemas.microsoft.com/office/drawing/2014/main" id="{BCDDCC0C-0F3B-47EA-AC52-644A32E6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002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DF154"/>
          </a:solidFill>
          <a:ln xmlns:a="http://schemas.openxmlformats.org/drawingml/2006/main" w="0">
            <a:noFill/>
          </a:ln>
        </p:spPr>
      </p:sp>
      <p:sp>
        <p:nvSpPr>
          <p:cNvPr id="29" name="Dependency arrow">
            <a:extLst xmlns:a="http://schemas.openxmlformats.org/drawingml/2006/main">
              <a:ext uri="{FF2B5EF4-FFF2-40B4-BE49-F238E27FC236}">
                <a16:creationId xmlns:a16="http://schemas.microsoft.com/office/drawing/2014/main" id="{CC5FCB30-CF0C-42F7-854C-0845BF95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48000"/>
            <a:ext cx="15240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DF154"/>
          </a:solidFill>
          <a:ln xmlns:a="http://schemas.openxmlformats.org/drawingml/2006/main" w="0">
            <a:noFill/>
          </a:ln>
        </p:spPr>
      </p:sp>
      <p:sp>
        <p:nvSpPr>
          <p:cNvPr id="30" name="Dependency arrow">
            <a:extLst xmlns:a="http://schemas.openxmlformats.org/drawingml/2006/main">
              <a:ext uri="{FF2B5EF4-FFF2-40B4-BE49-F238E27FC236}">
                <a16:creationId xmlns:a16="http://schemas.microsoft.com/office/drawing/2014/main" id="{5A7ABBED-9D2F-4E1B-B440-06F6029F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71950"/>
            <a:ext cx="152400" cy="2952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DF154"/>
          </a:solidFill>
          <a:ln xmlns:a="http://schemas.openxmlformats.org/drawingml/2006/main" w="0">
            <a:noFill/>
          </a:ln>
        </p:spPr>
      </p:sp>
      <p:sp>
        <p:nvSpPr>
          <p:cNvPr id="31" name="Missing evidence label">
            <a:extLst xmlns:a="http://schemas.openxmlformats.org/drawingml/2006/main">
              <a:ext uri="{FF2B5EF4-FFF2-40B4-BE49-F238E27FC236}">
                <a16:creationId xmlns:a16="http://schemas.microsoft.com/office/drawing/2014/main" id="{9C260033-F3E1-4DE5-B32C-39401DD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6705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Remaining evidence gaps</a:t>
            </a:r>
          </a:p>
        </p:txBody>
      </p:sp>
      <p:sp>
        <p:nvSpPr>
          <p:cNvPr id="32" name="Proposal label">
            <a:extLst xmlns:a="http://schemas.openxmlformats.org/drawingml/2006/main">
              <a:ext uri="{FF2B5EF4-FFF2-40B4-BE49-F238E27FC236}">
                <a16:creationId xmlns:a16="http://schemas.microsoft.com/office/drawing/2014/main" id="{CC792511-18C0-4348-B11F-7A60693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8147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Proposal or human review</a:t>
            </a:r>
          </a:p>
        </p:txBody>
      </p:sp>
      <p:sp>
        <p:nvSpPr>
          <p:cNvPr id="33" name="Sufficient path top">
            <a:extLst xmlns:a="http://schemas.openxmlformats.org/drawingml/2006/main">
              <a:ext uri="{FF2B5EF4-FFF2-40B4-BE49-F238E27FC236}">
                <a16:creationId xmlns:a16="http://schemas.microsoft.com/office/drawing/2014/main" id="{5D1C5307-DFA8-4ABF-A8B7-24269441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510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F154"/>
          </a:solidFill>
          <a:ln xmlns:a="http://schemas.openxmlformats.org/drawingml/2006/main" w="0">
            <a:noFill/>
          </a:ln>
        </p:spPr>
      </p:sp>
      <p:sp>
        <p:nvSpPr>
          <p:cNvPr id="34" name="Sufficient path down">
            <a:extLst xmlns:a="http://schemas.openxmlformats.org/drawingml/2006/main">
              <a:ext uri="{FF2B5EF4-FFF2-40B4-BE49-F238E27FC236}">
                <a16:creationId xmlns:a16="http://schemas.microsoft.com/office/drawing/2014/main" id="{29AEA8D6-9EAA-4783-87AE-BAB6F8E9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05100"/>
            <a:ext cx="19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F154"/>
          </a:solidFill>
          <a:ln xmlns:a="http://schemas.openxmlformats.org/drawingml/2006/main" w="0">
            <a:noFill/>
          </a:ln>
        </p:spPr>
      </p:sp>
      <p:sp>
        <p:nvSpPr>
          <p:cNvPr id="35" name="Sufficient path return">
            <a:extLst xmlns:a="http://schemas.openxmlformats.org/drawingml/2006/main">
              <a:ext uri="{FF2B5EF4-FFF2-40B4-BE49-F238E27FC236}">
                <a16:creationId xmlns:a16="http://schemas.microsoft.com/office/drawing/2014/main" id="{42F7BA5C-FD3C-46F7-B642-0683E5AD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96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F154"/>
          </a:solidFill>
          <a:ln xmlns:a="http://schemas.openxmlformats.org/drawingml/2006/main" w="0">
            <a:noFill/>
          </a:ln>
        </p:spPr>
      </p:sp>
      <p:sp>
        <p:nvSpPr>
          <p:cNvPr id="36" name="Direct-path arrow">
            <a:extLst xmlns:a="http://schemas.openxmlformats.org/drawingml/2006/main">
              <a:ext uri="{FF2B5EF4-FFF2-40B4-BE49-F238E27FC236}">
                <a16:creationId xmlns:a16="http://schemas.microsoft.com/office/drawing/2014/main" id="{27986F9B-A382-47B2-AAC7-3A150358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62500"/>
            <a:ext cx="19050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DF154"/>
          </a:solidFill>
          <a:ln xmlns:a="http://schemas.openxmlformats.org/drawingml/2006/main" w="0">
            <a:noFill/>
          </a:ln>
        </p:spPr>
      </p:sp>
      <p:sp>
        <p:nvSpPr>
          <p:cNvPr id="37" name="Direct-path explanation">
            <a:extLst xmlns:a="http://schemas.openxmlformats.org/drawingml/2006/main">
              <a:ext uri="{FF2B5EF4-FFF2-40B4-BE49-F238E27FC236}">
                <a16:creationId xmlns:a16="http://schemas.microsoft.com/office/drawing/2014/main" id="{80C7FCEF-5B9B-4A3A-9272-DF5E6AA2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24125"/>
            <a:ext cx="3105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Sufficient evidence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bypasses Layer 3.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Both paths use the same publication gate.</a:t>
            </a:r>
          </a:p>
        </p:txBody>
      </p:sp>
      <p:sp>
        <p:nvSpPr>
          <p:cNvPr id="38" name="Investigation return">
            <a:extLst xmlns:a="http://schemas.openxmlformats.org/drawingml/2006/main">
              <a:ext uri="{FF2B5EF4-FFF2-40B4-BE49-F238E27FC236}">
                <a16:creationId xmlns:a16="http://schemas.microsoft.com/office/drawing/2014/main" id="{CF6375F3-A465-450D-A11B-FA38164B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38600"/>
            <a:ext cx="3105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New material returns through Layers 1 and 2.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Unresolved claims go to moderation.</a:t>
            </a:r>
          </a:p>
        </p:txBody>
      </p:sp>
      <p:sp>
        <p:nvSpPr>
          <p:cNvPr id="39" name="Monitoring bus">
            <a:extLst xmlns:a="http://schemas.openxmlformats.org/drawingml/2006/main">
              <a:ext uri="{FF2B5EF4-FFF2-40B4-BE49-F238E27FC236}">
                <a16:creationId xmlns:a16="http://schemas.microsoft.com/office/drawing/2014/main" id="{7B9FFF16-F93F-4E3B-944A-170D024B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9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84"/>
          </a:solidFill>
          <a:ln xmlns:a="http://schemas.openxmlformats.org/drawingml/2006/main" w="0">
            <a:noFill/>
          </a:ln>
        </p:spPr>
      </p:sp>
      <p:sp>
        <p:nvSpPr>
          <p:cNvPr id="40" name="Monitoring connection">
            <a:extLst xmlns:a="http://schemas.openxmlformats.org/drawingml/2006/main">
              <a:ext uri="{FF2B5EF4-FFF2-40B4-BE49-F238E27FC236}">
                <a16:creationId xmlns:a16="http://schemas.microsoft.com/office/drawing/2014/main" id="{74173DA5-2592-4103-B8DE-C07695B8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84"/>
          </a:solidFill>
          <a:ln xmlns:a="http://schemas.openxmlformats.org/drawingml/2006/main" w="0">
            <a:noFill/>
          </a:ln>
        </p:spPr>
      </p:sp>
      <p:sp>
        <p:nvSpPr>
          <p:cNvPr id="41" name="Monitoring connection">
            <a:extLst xmlns:a="http://schemas.openxmlformats.org/drawingml/2006/main">
              <a:ext uri="{FF2B5EF4-FFF2-40B4-BE49-F238E27FC236}">
                <a16:creationId xmlns:a16="http://schemas.microsoft.com/office/drawing/2014/main" id="{E98ADE20-C5A7-47CF-80C9-3E755FFA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84"/>
          </a:solidFill>
          <a:ln xmlns:a="http://schemas.openxmlformats.org/drawingml/2006/main" w="0">
            <a:noFill/>
          </a:ln>
        </p:spPr>
      </p:sp>
      <p:sp>
        <p:nvSpPr>
          <p:cNvPr id="42" name="Monitoring connection">
            <a:extLst xmlns:a="http://schemas.openxmlformats.org/drawingml/2006/main">
              <a:ext uri="{FF2B5EF4-FFF2-40B4-BE49-F238E27FC236}">
                <a16:creationId xmlns:a16="http://schemas.microsoft.com/office/drawing/2014/main" id="{D8527B3D-EDD1-4BD4-B18F-4A7F73A2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84"/>
          </a:solidFill>
          <a:ln xmlns:a="http://schemas.openxmlformats.org/drawingml/2006/main" w="0">
            <a:noFill/>
          </a:ln>
        </p:spPr>
      </p:sp>
      <p:sp>
        <p:nvSpPr>
          <p:cNvPr id="43" name="Monitoring connection">
            <a:extLst xmlns:a="http://schemas.openxmlformats.org/drawingml/2006/main">
              <a:ext uri="{FF2B5EF4-FFF2-40B4-BE49-F238E27FC236}">
                <a16:creationId xmlns:a16="http://schemas.microsoft.com/office/drawing/2014/main" id="{D17DDF17-ECC3-435E-B4FA-9C35B09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84"/>
          </a:solidFill>
          <a:ln xmlns:a="http://schemas.openxmlformats.org/drawingml/2006/main" w="0">
            <a:noFill/>
          </a:ln>
        </p:spPr>
      </p:sp>
      <p:sp>
        <p:nvSpPr>
          <p:cNvPr id="44" name="Monitoring connection">
            <a:extLst xmlns:a="http://schemas.openxmlformats.org/drawingml/2006/main">
              <a:ext uri="{FF2B5EF4-FFF2-40B4-BE49-F238E27FC236}">
                <a16:creationId xmlns:a16="http://schemas.microsoft.com/office/drawing/2014/main" id="{4A55663B-7A0E-4BAF-86E3-103055A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8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Layer 4 owns the publication decision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Official notice within the issuer’s own remit and validity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Independent evidence supports the same claim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Publish as an attributed report with its qualifiers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cap="none" spc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ISSUER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156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cap="none" spc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1 SOURCE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063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cap="none" spc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2+ ORIGINS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BACKEND POLICY GATE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Both paths submit typed proposals. Check source approval, evidence, time, geometry and current event version. Disputed or uncertain support requires review; a model cannot publish.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9255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Proposed 12-week delivery plan</a:t>
            </a:r>
          </a:p>
        </p:txBody>
      </p:sp>
      <p:graphicFrame>
        <p:nvGraphicFramePr>
          <p:cNvPr id="539" name="Google Shape;953;p80"/>
          <p:cNvGraphicFramePr/>
          <p:nvPr/>
        </p:nvGraphicFramePr>
        <p:xfrm>
          <a:off xmlns:a="http://schemas.openxmlformats.org/drawingml/2006/main" x="393699" y="1245705"/>
          <a:ext xmlns:a="http://schemas.openxmlformats.org/drawingml/2006/main" cx="11404600" cy="47221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722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W1–2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W3–4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W5–6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W7–8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W9–12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86225"/>
            <a:ext cx="1952625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F15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L3 bounded</a:t>
            </a:r>
          </a:p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investigation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495925"/>
            <a:ext cx="1952625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F15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Held-out evaluation</a:t>
            </a:r>
            <a:endParaRPr sz="1500" b="1">
              <a:latin typeface="Inter SemiBold"/>
              <a:ea typeface="Inter SemiBold"/>
              <a:cs typeface="Inter SemiBold"/>
            </a:endParaRPr>
          </a:p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Weeks 11–12</a:t>
            </a:r>
            <a:endParaRPr sz="1500" b="1"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91075"/>
            <a:ext cx="1952625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F15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L4 + L5 integration</a:t>
            </a:r>
          </a:p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Weeks 9–10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81375"/>
            <a:ext cx="1952625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F15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L2 grounding</a:t>
            </a:r>
          </a:p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and direct path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76525"/>
            <a:ext cx="1952625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F15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L1 pipelines</a:t>
            </a:r>
          </a:p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and storage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1952625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F15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Needs, sources</a:t>
            </a:r>
            <a:endParaRPr sz="15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  <a:p xmlns:a="http://schemas.openxmlformats.org/drawingml/2006/main">
            <a:pPr algn="ctr">
              <a:defRPr sz="1275" b="1">
                <a:solidFill>
                  <a:srgbClr val="06281C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C"/>
                </a:solidFill>
                <a:latin typeface="Inter"/>
                <a:ea typeface="Inter"/>
                <a:cs typeface="Inter"/>
              </a:rPr>
              <a:t>and contracts</a:t>
            </a:r>
            <a:endParaRPr sz="15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535" name="Shared integration and owners">
            <a:extLst xmlns:a="http://schemas.openxmlformats.org/drawingml/2006/main">
              <a:ext uri="{FF2B5EF4-FFF2-40B4-BE49-F238E27FC236}">
                <a16:creationId xmlns:a16="http://schemas.microsoft.com/office/drawing/2014/main" id="{325E355F-92B3-4601-B8DE-D90225F8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017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Instrumentation and weekly integration start in week 1.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Jesaya: data / API   ·   Perry: models / investigation   ·   Rasya: UI / evaluation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Validation across all five layers</a:t>
            </a:r>
          </a:p>
        </p:txBody>
      </p:sp>
      <p:graphicFrame>
        <p:nvGraphicFramePr>
          <p:cNvPr id="538" name="Google Shape;953;p80"/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0" cy="53501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>
                          <a:solidFill>
                            <a:srgbClr val="BDF154"/>
                          </a:solidFill>
                          <a:latin typeface="Inter"/>
                          <a:ea typeface="Inter"/>
                          <a:cs typeface="Inter"/>
                        </a:rPr>
                        <a:t>L1  Data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>
                          <a:solidFill>
                            <a:srgbClr val="BDF154"/>
                          </a:solidFill>
                          <a:latin typeface="Inter"/>
                          <a:ea typeface="Inter"/>
                          <a:cs typeface="Inter"/>
                        </a:rPr>
                        <a:t>L2  Models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>
                          <a:solidFill>
                            <a:srgbClr val="BDF154"/>
                          </a:solidFill>
                          <a:latin typeface="Inter"/>
                          <a:ea typeface="Inter"/>
                          <a:cs typeface="Inter"/>
                        </a:rPr>
                        <a:t>L3  Investigation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>
                          <a:solidFill>
                            <a:srgbClr val="BDF154"/>
                          </a:solidFill>
                          <a:latin typeface="Inter"/>
                          <a:ea typeface="Inter"/>
                          <a:cs typeface="Inter"/>
                        </a:rPr>
                        <a:t>L4  Publication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>
                          <a:solidFill>
                            <a:srgbClr val="BDF154"/>
                          </a:solidFill>
                          <a:latin typeface="Inter"/>
                          <a:ea typeface="Inter"/>
                          <a:cs typeface="Inter"/>
                        </a:rPr>
                        <a:t>L5  Monitoring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Provenance and revision history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Extraction accuracy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5 tools / 4 turns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Source and scope rules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Complete audit traces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Parser and source health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Recall of supporting + contrary evidence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60 active seconds / 12,000 tokens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Uncertain claims held for review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Latency and cost by layer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Withdrawn evidence excluded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No false event merges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Resume preserves counters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Corrections reach every view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Reviewed human feedback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40 reports / 12 cases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Held-out incident split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Direct cases bypass L3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80% user task target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Regression checks before release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2090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Waspada Jakarta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A current, source-backed view of who may be affected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QUESTIONS + DECISIONS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2026-09-18T03:18:56.4980000Z</dcterms:created>
  <dcterms:modified xsi:type="dcterms:W3CDTF">2026-09-18T03:18:56.4980000Z</dcterms:modified>
</coreProperties>
</file>